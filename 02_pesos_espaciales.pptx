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embeddedFontLst>
    <p:embeddedFont>
      <p:font typeface="Playfair Display"/>
      <p:regular r:id="rId19"/>
      <p:bold r:id="rId20"/>
      <p:italic r:id="rId21"/>
      <p:boldItalic r:id="rId22"/>
    </p:embeddedFont>
    <p:embeddedFont>
      <p:font typeface="Inter Tight"/>
      <p:regular r:id="rId23"/>
      <p:bold r:id="rId24"/>
      <p:italic r:id="rId25"/>
      <p:boldItalic r:id="rId26"/>
    </p:embeddedFont>
    <p:embeddedFont>
      <p:font typeface="Fira Sans Extra Condensed"/>
      <p:regular r:id="rId27"/>
      <p:bold r:id="rId28"/>
      <p:italic r:id="rId29"/>
      <p:boldItalic r:id="rId30"/>
    </p:embeddedFont>
    <p:embeddedFont>
      <p:font typeface="Playfair Display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hmUbgn4tn+0UbztqagCbmKd3NK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InterTight-bold.fntdata"/><Relationship Id="rId23" Type="http://schemas.openxmlformats.org/officeDocument/2006/relationships/font" Target="fonts/InterTight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Tight-boldItalic.fntdata"/><Relationship Id="rId25" Type="http://schemas.openxmlformats.org/officeDocument/2006/relationships/font" Target="fonts/InterTight-italic.fntdata"/><Relationship Id="rId28" Type="http://schemas.openxmlformats.org/officeDocument/2006/relationships/font" Target="fonts/FiraSansExtraCondensed-bold.fntdata"/><Relationship Id="rId27" Type="http://schemas.openxmlformats.org/officeDocument/2006/relationships/font" Target="fonts/FiraSansExtraCondense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FiraSansExtraCondensed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layfairDisplaySemiBold-regular.fntdata"/><Relationship Id="rId30" Type="http://schemas.openxmlformats.org/officeDocument/2006/relationships/font" Target="fonts/FiraSansExtraCondensed-boldItalic.fntdata"/><Relationship Id="rId11" Type="http://schemas.openxmlformats.org/officeDocument/2006/relationships/slide" Target="slides/slide7.xml"/><Relationship Id="rId33" Type="http://schemas.openxmlformats.org/officeDocument/2006/relationships/font" Target="fonts/PlayfairDisplaySemiBold-italic.fntdata"/><Relationship Id="rId10" Type="http://schemas.openxmlformats.org/officeDocument/2006/relationships/slide" Target="slides/slide6.xml"/><Relationship Id="rId32" Type="http://schemas.openxmlformats.org/officeDocument/2006/relationships/font" Target="fonts/PlayfairDisplaySemiBold-bold.fntdata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font" Target="fonts/PlayfairDisplaySemiBold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PlayfairDisplay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d23f04f5a0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g3d23f04f5a0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d23f04f5a0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d23f04f5a0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d23f04f5a0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d23f04f5a0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d23f04f5a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d23f04f5a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d23f04f5a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23f04f5a0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d23f04f5a0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d23f04f5a0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23f04f5a0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23f04f5a0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d23f04f5a0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23f04f5a0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23f04f5a0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d23f04f5a0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23f04f5a0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23f04f5a0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d23f04f5a0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23f04f5a0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23f04f5a0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d23f04f5a0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23f04f5a0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23f04f5a0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23f04f5a0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23f04f5a0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23f04f5a0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23f04f5a0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23f04f5a0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23f04f5a0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23f04f5a0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23f04f5a0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23f04f5a0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23f04f5a0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3f04f5a0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3f04f5a0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d23f04f5a0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cc94b51e20_0_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cc94b51e20_0_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cc94b51e20_0_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cc94b51e20_0_1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g3cc94b51e20_0_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cccc053b5b_0_6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 Tight"/>
              <a:buChar char="●"/>
              <a:defRPr b="0" i="0" sz="24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 Tight"/>
              <a:buChar char="○"/>
              <a:defRPr b="0" i="0" sz="24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 Tight"/>
              <a:buChar char="■"/>
              <a:defRPr b="0" i="0" sz="24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 Tight"/>
              <a:buChar char="●"/>
              <a:defRPr b="0" i="0" sz="24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 Tight"/>
              <a:buChar char="○"/>
              <a:defRPr b="0" i="0" sz="24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 Tight"/>
              <a:buChar char="■"/>
              <a:defRPr b="0" i="0" sz="24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 Tight"/>
              <a:buChar char="●"/>
              <a:defRPr b="0" i="0" sz="24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 Tight"/>
              <a:buChar char="○"/>
              <a:defRPr b="0" i="0" sz="24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 Tight"/>
              <a:buChar char="■"/>
              <a:defRPr b="0" i="0" sz="24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20" name="Google Shape;20;g3cccc053b5b_0_6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 Tight"/>
              <a:buChar char="●"/>
              <a:defRPr b="0" i="0" sz="12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 Tight"/>
              <a:buChar char="○"/>
              <a:defRPr b="0" i="0" sz="12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 Tight"/>
              <a:buChar char="■"/>
              <a:defRPr b="0" i="0" sz="12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 Tight"/>
              <a:buChar char="●"/>
              <a:defRPr b="0" i="0" sz="12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 Tight"/>
              <a:buChar char="○"/>
              <a:defRPr b="0" i="0" sz="12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 Tight"/>
              <a:buChar char="■"/>
              <a:defRPr b="0" i="0" sz="12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 Tight"/>
              <a:buChar char="●"/>
              <a:defRPr b="0" i="0" sz="12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 Tight"/>
              <a:buChar char="○"/>
              <a:defRPr b="0" i="0" sz="12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 Tight"/>
              <a:buChar char="■"/>
              <a:defRPr b="0" i="0" sz="12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21" name="Google Shape;21;g3cccc053b5b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46C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/>
          <p:nvPr/>
        </p:nvSpPr>
        <p:spPr>
          <a:xfrm>
            <a:off x="457200" y="3913855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600"/>
              <a:buFont typeface="Arial Narrow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</a:t>
            </a:r>
            <a:r>
              <a:rPr i="0" lang="en-US" sz="1600" u="none" cap="none" strike="noStrike">
                <a:solidFill>
                  <a:schemeClr val="lt1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aniela Opitz</a:t>
            </a:r>
            <a:endParaRPr i="0" sz="1600" u="none" cap="none" strike="noStrike">
              <a:solidFill>
                <a:schemeClr val="lt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600"/>
              <a:buFont typeface="Arial Narrow"/>
              <a:buNone/>
            </a:pPr>
            <a:r>
              <a:rPr i="0" lang="en-US" sz="1600" u="none" cap="none" strike="noStrike">
                <a:solidFill>
                  <a:srgbClr val="C4B5FD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Departamento de Informática</a:t>
            </a:r>
            <a:endParaRPr i="0" sz="1600" u="none" cap="none" strike="noStrike">
              <a:solidFill>
                <a:srgbClr val="C4B5FD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600"/>
              <a:buFont typeface="Arial Narrow"/>
              <a:buNone/>
            </a:pPr>
            <a:r>
              <a:rPr i="0" lang="en-US" sz="1600" u="none" cap="none" strike="noStrike">
                <a:solidFill>
                  <a:srgbClr val="C4B5FD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Universidad Técnica Federico Santa María</a:t>
            </a:r>
            <a:endParaRPr i="0" sz="1600" u="none" cap="none" strike="noStrike">
              <a:solidFill>
                <a:srgbClr val="C4B5FD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57200" y="1676925"/>
            <a:ext cx="8229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Narrow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Análisis de Datos Espaciales</a:t>
            </a:r>
            <a:endParaRPr b="1" i="0" sz="44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828800" y="3017520"/>
            <a:ext cx="548640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011680" y="309067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4C1D9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Clase 02</a:t>
            </a:r>
            <a:r>
              <a:rPr i="0" lang="en-US" sz="1600" u="none" cap="none" strike="noStrike">
                <a:solidFill>
                  <a:srgbClr val="4C1D9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:  </a:t>
            </a:r>
            <a:r>
              <a:rPr lang="en-US" sz="1600">
                <a:solidFill>
                  <a:srgbClr val="4C1D9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P</a:t>
            </a:r>
            <a:r>
              <a:rPr i="0" lang="en-US" sz="1600" u="none" cap="none" strike="noStrike">
                <a:solidFill>
                  <a:srgbClr val="4C1D9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esos </a:t>
            </a:r>
            <a:r>
              <a:rPr lang="en-US" sz="1600">
                <a:solidFill>
                  <a:srgbClr val="4C1D95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Espaciales</a:t>
            </a:r>
            <a:endParaRPr i="0" sz="1600" u="none" cap="none" strike="noStrike">
              <a:solidFill>
                <a:schemeClr val="dk1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g3d23f04f5a0_0_35" title="Captura de pantalla 2026-03-24 a la(s) 5.09.13 p.m..png"/>
          <p:cNvPicPr preferRelativeResize="0"/>
          <p:nvPr/>
        </p:nvPicPr>
        <p:blipFill rotWithShape="1">
          <a:blip r:embed="rId3">
            <a:alphaModFix/>
          </a:blip>
          <a:srcRect b="0" l="0" r="0" t="2315"/>
          <a:stretch/>
        </p:blipFill>
        <p:spPr>
          <a:xfrm>
            <a:off x="237525" y="1290375"/>
            <a:ext cx="8839199" cy="286932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g3d23f04f5a0_0_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Matriz de Pesos Espaciales</a:t>
            </a:r>
            <a:endParaRPr b="1" sz="26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g3d23f04f5a0_0_42" title="matriz_adyacencia_grafo_no_dirigido_h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825" y="80200"/>
            <a:ext cx="7378744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d23f04f5a0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d23f04f5a0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" name="Google Shape;52;g3d23f04f5a0_0_0" title="Captura de pantalla 2026-03-24 a la(s) 4.47.55 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37" y="399590"/>
            <a:ext cx="8887127" cy="4169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23f04f5a0_0_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d23f04f5a0_0_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g3d23f04f5a0_0_7" title="Captura de pantalla 2026-03-24 a la(s) 4.49.11 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513" y="203139"/>
            <a:ext cx="8912977" cy="4737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23f04f5a0_0_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d23f04f5a0_0_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g3d23f04f5a0_0_51" title="Captura de pantalla 2026-03-24 a la(s) 6.04.07 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25" y="242638"/>
            <a:ext cx="8642375" cy="465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23f04f5a0_0_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d23f04f5a0_0_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g3d23f04f5a0_0_58" title="knn_matrices_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699" y="81200"/>
            <a:ext cx="8574602" cy="475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23f04f5a0_0_65"/>
          <p:cNvSpPr txBox="1"/>
          <p:nvPr>
            <p:ph idx="1" type="body"/>
          </p:nvPr>
        </p:nvSpPr>
        <p:spPr>
          <a:xfrm>
            <a:off x="4809625" y="683250"/>
            <a:ext cx="39504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Los pesos KNN p</a:t>
            </a:r>
            <a:r>
              <a:rPr lang="en-US" sz="17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roducen una matriz que </a:t>
            </a:r>
            <a:r>
              <a:rPr b="1" lang="en-US" sz="17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no es simétrica.</a:t>
            </a:r>
            <a:r>
              <a:rPr lang="en-US" sz="17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17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Esto es un problema porque la mayoría de los métodos de análisis espacial que veremos más adelante — como el Índice de Moran, los indicadores LISA, y los modelos de regresión espacial — asumen que las relaciones de vecindad son recíprocas.</a:t>
            </a:r>
            <a:endParaRPr sz="1900"/>
          </a:p>
        </p:txBody>
      </p:sp>
      <p:pic>
        <p:nvPicPr>
          <p:cNvPr id="83" name="Google Shape;83;g3d23f04f5a0_0_65" title="knn_asimetria.png"/>
          <p:cNvPicPr preferRelativeResize="0"/>
          <p:nvPr/>
        </p:nvPicPr>
        <p:blipFill rotWithShape="1">
          <a:blip r:embed="rId3">
            <a:alphaModFix/>
          </a:blip>
          <a:srcRect b="0" l="9971" r="9553" t="4123"/>
          <a:stretch/>
        </p:blipFill>
        <p:spPr>
          <a:xfrm>
            <a:off x="149094" y="222138"/>
            <a:ext cx="4416881" cy="4699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d23f04f5a0_0_73" title="kernel_presenta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31" y="76200"/>
            <a:ext cx="8589732" cy="499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23f04f5a0_0_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d23f04f5a0_0_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g3d23f04f5a0_0_14" title="Captura de pantalla 2026-03-24 a la(s) 4.52.18 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00" y="153088"/>
            <a:ext cx="8751976" cy="48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23f04f5a0_0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23f04f5a0_0_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g3d23f04f5a0_0_21" title="Captura de pantalla 2026-03-24 a la(s) 4.53.37 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75" y="110800"/>
            <a:ext cx="8848002" cy="478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g3d23f04f5a0_0_81" title="calculo_h_adaptativo_2c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275" y="106413"/>
            <a:ext cx="8033449" cy="4930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23f04f5a0_0_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d23f04f5a0_0_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g3d23f04f5a0_0_28" title="Captura de pantalla 2026-03-24 a la(s) 4.54.58 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00" y="75325"/>
            <a:ext cx="8924502" cy="488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23f04f5a0_0_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Playfair Display"/>
                <a:ea typeface="Playfair Display"/>
                <a:cs typeface="Playfair Display"/>
                <a:sym typeface="Playfair Display"/>
              </a:rPr>
              <a:t>Tabla Resumen</a:t>
            </a:r>
            <a:endParaRPr b="1" sz="29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26" name="Google Shape;126;g3d23f04f5a0_0_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g3d23f04f5a0_0_88" title="Captura de pantalla 2026-03-24 a la(s) 6.59.09 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00" y="908129"/>
            <a:ext cx="8702551" cy="3905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2026-02-16T21:02:45Z</dcterms:created>
  <dc:creator>Análisis de Datos Espaciales</dc:creator>
</cp:coreProperties>
</file>